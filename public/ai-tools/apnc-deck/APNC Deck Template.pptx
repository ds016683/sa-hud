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SLIDE. Keep: logo, headline with one red phrase, subtitle, the soft red well with the description. Change the words only. Fonts: Geist (install from Google Fonts; Calibri is the fallback). Red is one accent: eyebrows, the red phrase, bullets, arrows. Never more than one red phrase per headline.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STATEMENT. Eyebrow above the headline (12pt, red, caps, tracked). Headline 40pt bold, tracking tight, one red phrase. One lead paragraph. Use it for the turn in the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SECTION, THREE CARDS. Duplicate a card for four; delete one for two. Cards: paper, hairline border, 0.06 corner radius. The accent card (red fill, white text) is for the one thing the room should remember.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SECTION, FOUR CARDS. Same card, four across. Titles stay short enough to hold two lines at 17pt.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QUOTE. Red left rule, the quote at 34pt bold with one red phrase, attribution below in ink-soft. No eyebrow, no headline: the quote is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FLOW. Boxes joined by red triangles, the last box filled red. Five boxes fit; for four, widen the boxes. Keep the labels to one or two words and the sublines to five.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LIST. Numbered red discs for objectives or takeaways; for a plain list use 6pt ink dots at 30%. Three to five items. Verbatim language for anything that came from a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CLOSER. Headline with the red phrase, one lead line with the ask in bold ink, the contact line. Nothing 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" y="228600"/>
            <a:ext cx="11734495" cy="6400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pn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167" y="1051560"/>
            <a:ext cx="172800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148840"/>
            <a:ext cx="103628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1A1714"/>
                </a:solidFill>
                <a:latin typeface="Geist"/>
              </a:rPr>
              <a:t>Not Scared, </a:t>
            </a:r>
            <a:r>
              <a:rPr sz="5400" b="1" i="0">
                <a:solidFill>
                  <a:srgbClr val="E8331C"/>
                </a:solidFill>
                <a:latin typeface="Geist"/>
              </a:rPr>
              <a:t>Prepared.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46120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5B5650"/>
                </a:solidFill>
                <a:latin typeface="Geist"/>
              </a:rPr>
              <a:t>Data, AI, and the Future of the Addiction Field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94560" y="3931920"/>
            <a:ext cx="7802575" cy="1143000"/>
          </a:xfrm>
          <a:prstGeom prst="roundRect">
            <a:avLst>
              <a:gd name="adj" fmla="val 6000"/>
            </a:avLst>
          </a:prstGeom>
          <a:solidFill>
            <a:srgbClr val="FEF6F5"/>
          </a:solidFill>
          <a:ln w="9525">
            <a:solidFill>
              <a:srgbClr val="E83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14600" y="4114800"/>
            <a:ext cx="7162495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1A1714"/>
                </a:solidFill>
                <a:latin typeface="Geist"/>
              </a:rPr>
              <a:t>One paragraph of description, verbatim from the submission. Two sentences at most on a title slide.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49240"/>
            <a:ext cx="1036289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5B5650"/>
                </a:solidFill>
                <a:latin typeface="Geist"/>
              </a:rPr>
              <a:t>David Smith · Third Horizon · APNC Fall Conference · October 20, 2026</a:t>
            </a:r>
          </a:p>
        </p:txBody>
      </p:sp>
      <p:pic>
        <p:nvPicPr>
          <p:cNvPr id="9" name="Picture 8" descr="apn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9975" y="5989320"/>
            <a:ext cx="907200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" y="228600"/>
            <a:ext cx="11734495" cy="6400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50">
                <a:solidFill>
                  <a:srgbClr val="E8331C"/>
                </a:solidFill>
                <a:latin typeface="Geist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9601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 i="0">
                <a:solidFill>
                  <a:srgbClr val="1A1714"/>
                </a:solidFill>
                <a:latin typeface="Geist"/>
              </a:rPr>
              <a:t>Artificial intelligence has arrived</a:t>
            </a:r>
            <a:r>
              <a:rPr sz="4000" b="1" i="0">
                <a:solidFill>
                  <a:srgbClr val="E8331C"/>
                </a:solidFill>
                <a:latin typeface="Geist"/>
              </a:rPr>
              <a:t> in behavioral health.</a:t>
            </a:r>
          </a:p>
        </p:txBody>
      </p:sp>
      <p:pic>
        <p:nvPicPr>
          <p:cNvPr id="5" name="Picture 4" descr="apn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9975" y="5989320"/>
            <a:ext cx="907200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71055" y="6089904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 spc="200">
                <a:solidFill>
                  <a:srgbClr val="5B5650"/>
                </a:solidFill>
                <a:latin typeface="Geist"/>
              </a:rPr>
              <a:t>FALL CONFERENCE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84124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5B5650"/>
                </a:solidFill>
                <a:latin typeface="Geist"/>
              </a:rPr>
              <a:t>The lead paragraph, 20 to 22pt, in ink-soft. One idea per slide. Everything that does not fit goes in the notes.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" y="228600"/>
            <a:ext cx="11734495" cy="6400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50">
                <a:solidFill>
                  <a:srgbClr val="E8331C"/>
                </a:solidFill>
                <a:latin typeface="Geist"/>
              </a:rPr>
              <a:t>A CLEAR-EYED 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9601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 i="0">
                <a:solidFill>
                  <a:srgbClr val="1A1714"/>
                </a:solidFill>
                <a:latin typeface="Geist"/>
              </a:rPr>
              <a:t>What AI is, what it is not, and</a:t>
            </a:r>
            <a:r>
              <a:rPr sz="4000" b="1" i="0">
                <a:solidFill>
                  <a:srgbClr val="E8331C"/>
                </a:solidFill>
                <a:latin typeface="Geist"/>
              </a:rPr>
              <a:t> what it cannot do without you.</a:t>
            </a:r>
          </a:p>
        </p:txBody>
      </p:sp>
      <p:pic>
        <p:nvPicPr>
          <p:cNvPr id="5" name="Picture 4" descr="apn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9975" y="5989320"/>
            <a:ext cx="907200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71055" y="6089904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 spc="200">
                <a:solidFill>
                  <a:srgbClr val="5B5650"/>
                </a:solidFill>
                <a:latin typeface="Geist"/>
              </a:rPr>
              <a:t>FALL CONFERENCE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3393338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999232"/>
            <a:ext cx="28446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1281A"/>
                </a:solidFill>
                <a:latin typeface="Geist"/>
              </a:rPr>
              <a:t>What it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520440"/>
            <a:ext cx="2844698" cy="1645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B5650"/>
                </a:solidFill>
                <a:latin typeface="Geist"/>
              </a:rPr>
              <a:t>Two or three lines. Short sentences. The card title in red-dark, the body in ink-soft.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743200"/>
            <a:ext cx="3393338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3498" y="2999232"/>
            <a:ext cx="28446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1281A"/>
                </a:solidFill>
                <a:latin typeface="Geist"/>
              </a:rPr>
              <a:t>What it is not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3498" y="3520440"/>
            <a:ext cx="2844698" cy="1645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B5650"/>
                </a:solidFill>
                <a:latin typeface="Geist"/>
              </a:rPr>
              <a:t>Two or three lines. Keep the three cards the same height; let the words breathe.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75396" y="2743200"/>
            <a:ext cx="3393338" cy="2651760"/>
          </a:xfrm>
          <a:prstGeom prst="roundRect">
            <a:avLst>
              <a:gd name="adj" fmla="val 6000"/>
            </a:avLst>
          </a:prstGeom>
          <a:solidFill>
            <a:srgbClr val="E8331C"/>
          </a:solidFill>
          <a:ln w="9525">
            <a:solidFill>
              <a:srgbClr val="E83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9716" y="2999232"/>
            <a:ext cx="28446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Geist"/>
              </a:rPr>
              <a:t>What it cannot do without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9716" y="3520440"/>
            <a:ext cx="2844698" cy="1645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Geist"/>
              </a:rPr>
              <a:t>The accent card is the one you want remembered. One per slide at most.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" y="228600"/>
            <a:ext cx="11734495" cy="6400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50">
                <a:solidFill>
                  <a:srgbClr val="E8331C"/>
                </a:solidFill>
                <a:latin typeface="Geist"/>
              </a:rPr>
              <a:t>ON THE SIDELINES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9601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 i="0">
                <a:solidFill>
                  <a:srgbClr val="1A1714"/>
                </a:solidFill>
                <a:latin typeface="Geist"/>
              </a:rPr>
              <a:t>The preconceptions that keep</a:t>
            </a:r>
            <a:r>
              <a:rPr sz="4000" b="1" i="0">
                <a:solidFill>
                  <a:srgbClr val="E8331C"/>
                </a:solidFill>
                <a:latin typeface="Geist"/>
              </a:rPr>
              <a:t> the field on the sidelines.</a:t>
            </a:r>
          </a:p>
        </p:txBody>
      </p:sp>
      <p:pic>
        <p:nvPicPr>
          <p:cNvPr id="5" name="Picture 4" descr="apn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9975" y="5989320"/>
            <a:ext cx="907200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71055" y="6089904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 spc="200">
                <a:solidFill>
                  <a:srgbClr val="5B5650"/>
                </a:solidFill>
                <a:latin typeface="Geist"/>
              </a:rPr>
              <a:t>FALL CONFERENCE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2499283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999232"/>
            <a:ext cx="195064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1281A"/>
                </a:solidFill>
                <a:latin typeface="Geist"/>
              </a:rPr>
              <a:t>It will replace 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520440"/>
            <a:ext cx="1950643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B5650"/>
                </a:solidFill>
                <a:latin typeface="Geist"/>
              </a:rPr>
              <a:t>One line of answer.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5123" y="2743200"/>
            <a:ext cx="2499283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79443" y="2999232"/>
            <a:ext cx="195064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1281A"/>
                </a:solidFill>
                <a:latin typeface="Geist"/>
              </a:rPr>
              <a:t>It is not for a field like ours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79443" y="3520440"/>
            <a:ext cx="1950643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B5650"/>
                </a:solidFill>
                <a:latin typeface="Geist"/>
              </a:rPr>
              <a:t>One line of answer.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7287" y="2743200"/>
            <a:ext cx="2499283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1607" y="2999232"/>
            <a:ext cx="195064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1281A"/>
                </a:solidFill>
                <a:latin typeface="Geist"/>
              </a:rPr>
              <a:t>It is too risky to touch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1607" y="3520440"/>
            <a:ext cx="1950643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B5650"/>
                </a:solidFill>
                <a:latin typeface="Geist"/>
              </a:rPr>
              <a:t>One line of answer.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451" y="2743200"/>
            <a:ext cx="2499283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3771" y="2999232"/>
            <a:ext cx="195064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C1281A"/>
                </a:solidFill>
                <a:latin typeface="Geist"/>
              </a:rPr>
              <a:t>Someone else will sort it 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3771" y="3520440"/>
            <a:ext cx="1950643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B5650"/>
                </a:solidFill>
                <a:latin typeface="Geist"/>
              </a:rPr>
              <a:t>One line of answer.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" y="228600"/>
            <a:ext cx="11734495" cy="6400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pn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9975" y="5989320"/>
            <a:ext cx="907200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071055" y="6089904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 spc="200">
                <a:solidFill>
                  <a:srgbClr val="5B5650"/>
                </a:solidFill>
                <a:latin typeface="Geist"/>
              </a:rPr>
              <a:t>FALL CONFERENCE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011680"/>
            <a:ext cx="54864" cy="2194560"/>
          </a:xfrm>
          <a:prstGeom prst="rect">
            <a:avLst/>
          </a:prstGeom>
          <a:solidFill>
            <a:srgbClr val="E83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920240"/>
            <a:ext cx="96012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A1714"/>
                </a:solidFill>
                <a:latin typeface="Geist"/>
              </a:rPr>
              <a:t>“By </a:t>
            </a:r>
            <a:r>
              <a:rPr sz="3400" b="1" i="0">
                <a:solidFill>
                  <a:srgbClr val="E8331C"/>
                </a:solidFill>
                <a:latin typeface="Geist"/>
              </a:rPr>
              <a:t>investing in people</a:t>
            </a:r>
            <a:r>
              <a:rPr sz="3400" b="1" i="0">
                <a:solidFill>
                  <a:srgbClr val="1A1714"/>
                </a:solidFill>
                <a:latin typeface="Geist"/>
              </a:rPr>
              <a:t>, you get a stronger, safer, healthier North Carolina.”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4805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B5650"/>
                </a:solidFill>
                <a:latin typeface="Geist"/>
              </a:rPr>
              <a:t>Governor Josh Stein · July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" y="228600"/>
            <a:ext cx="11734495" cy="6400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50">
                <a:solidFill>
                  <a:srgbClr val="E8331C"/>
                </a:solidFill>
                <a:latin typeface="Geist"/>
              </a:rPr>
              <a:t>THE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9601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 i="0">
                <a:solidFill>
                  <a:srgbClr val="1A1714"/>
                </a:solidFill>
                <a:latin typeface="Geist"/>
              </a:rPr>
              <a:t>From the field’s own data to</a:t>
            </a:r>
            <a:r>
              <a:rPr sz="4000" b="1" i="0">
                <a:solidFill>
                  <a:srgbClr val="E8331C"/>
                </a:solidFill>
                <a:latin typeface="Geist"/>
              </a:rPr>
              <a:t> insight you can act on.</a:t>
            </a:r>
          </a:p>
        </p:txBody>
      </p:sp>
      <p:pic>
        <p:nvPicPr>
          <p:cNvPr id="5" name="Picture 4" descr="apn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9975" y="5989320"/>
            <a:ext cx="907200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71055" y="6089904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 spc="200">
                <a:solidFill>
                  <a:srgbClr val="5B5650"/>
                </a:solidFill>
                <a:latin typeface="Geist"/>
              </a:rPr>
              <a:t>FALL CONFERENCE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017520"/>
            <a:ext cx="1874519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3154680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714"/>
                </a:solidFill>
                <a:latin typeface="Geist"/>
              </a:rPr>
              <a:t>Workforce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520440"/>
            <a:ext cx="1508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B5650"/>
                </a:solidFill>
                <a:latin typeface="Geist"/>
              </a:rPr>
              <a:t>who is practicing, where</a:t>
            </a:r>
          </a:p>
        </p:txBody>
      </p:sp>
      <p:sp>
        <p:nvSpPr>
          <p:cNvPr id="10" name="Isosceles Triangle 9"/>
          <p:cNvSpPr/>
          <p:nvPr/>
        </p:nvSpPr>
        <p:spPr>
          <a:xfrm rot="5400000">
            <a:off x="2788920" y="3456432"/>
            <a:ext cx="219456" cy="256032"/>
          </a:xfrm>
          <a:prstGeom prst="triangle">
            <a:avLst/>
          </a:prstGeom>
          <a:solidFill>
            <a:srgbClr val="E83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081527" y="3017520"/>
            <a:ext cx="1874519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82696" y="3154680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714"/>
                </a:solidFill>
                <a:latin typeface="Geist"/>
              </a:rPr>
              <a:t>Funding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82696" y="3520440"/>
            <a:ext cx="1508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B5650"/>
                </a:solidFill>
                <a:latin typeface="Geist"/>
              </a:rPr>
              <a:t>what is flowing, to whom</a:t>
            </a:r>
          </a:p>
        </p:txBody>
      </p:sp>
      <p:sp>
        <p:nvSpPr>
          <p:cNvPr id="14" name="Isosceles Triangle 13"/>
          <p:cNvSpPr/>
          <p:nvPr/>
        </p:nvSpPr>
        <p:spPr>
          <a:xfrm rot="5400000">
            <a:off x="5047488" y="3456432"/>
            <a:ext cx="219456" cy="256032"/>
          </a:xfrm>
          <a:prstGeom prst="triangle">
            <a:avLst/>
          </a:prstGeom>
          <a:solidFill>
            <a:srgbClr val="E83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40096" y="3017520"/>
            <a:ext cx="1874519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41264" y="3154680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714"/>
                </a:solidFill>
                <a:latin typeface="Geist"/>
              </a:rPr>
              <a:t>Policy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41264" y="3520440"/>
            <a:ext cx="1508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B5650"/>
                </a:solidFill>
                <a:latin typeface="Geist"/>
              </a:rPr>
              <a:t>what is moving in Raleigh</a:t>
            </a:r>
          </a:p>
        </p:txBody>
      </p:sp>
      <p:sp>
        <p:nvSpPr>
          <p:cNvPr id="18" name="Isosceles Triangle 17"/>
          <p:cNvSpPr/>
          <p:nvPr/>
        </p:nvSpPr>
        <p:spPr>
          <a:xfrm rot="5400000">
            <a:off x="7306055" y="3456432"/>
            <a:ext cx="219456" cy="256032"/>
          </a:xfrm>
          <a:prstGeom prst="triangle">
            <a:avLst/>
          </a:prstGeom>
          <a:solidFill>
            <a:srgbClr val="E83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598663" y="3017520"/>
            <a:ext cx="1874519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9831" y="3154680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714"/>
                </a:solidFill>
                <a:latin typeface="Geist"/>
              </a:rPr>
              <a:t>Community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9831" y="3520440"/>
            <a:ext cx="1508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B5650"/>
                </a:solidFill>
                <a:latin typeface="Geist"/>
              </a:rPr>
              <a:t>conditions on the ground</a:t>
            </a:r>
          </a:p>
        </p:txBody>
      </p:sp>
      <p:sp>
        <p:nvSpPr>
          <p:cNvPr id="22" name="Isosceles Triangle 21"/>
          <p:cNvSpPr/>
          <p:nvPr/>
        </p:nvSpPr>
        <p:spPr>
          <a:xfrm rot="5400000">
            <a:off x="9564624" y="3456432"/>
            <a:ext cx="219456" cy="256032"/>
          </a:xfrm>
          <a:prstGeom prst="triangle">
            <a:avLst/>
          </a:prstGeom>
          <a:solidFill>
            <a:srgbClr val="E83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57232" y="3017520"/>
            <a:ext cx="1874519" cy="1143000"/>
          </a:xfrm>
          <a:prstGeom prst="roundRect">
            <a:avLst>
              <a:gd name="adj" fmla="val 6000"/>
            </a:avLst>
          </a:prstGeom>
          <a:solidFill>
            <a:srgbClr val="E8331C"/>
          </a:solidFill>
          <a:ln w="9525">
            <a:solidFill>
              <a:srgbClr val="E83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0" y="3154680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Geist"/>
              </a:rPr>
              <a:t>Insight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3520440"/>
            <a:ext cx="1508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FFFFFF"/>
                </a:solidFill>
                <a:latin typeface="Geist"/>
              </a:rPr>
              <a:t>professionals can act 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66344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5B5650"/>
                </a:solidFill>
                <a:latin typeface="Geist"/>
              </a:rPr>
              <a:t>One line under the chain that says what it adds up 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" y="228600"/>
            <a:ext cx="11734495" cy="6400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50">
                <a:solidFill>
                  <a:srgbClr val="E8331C"/>
                </a:solidFill>
                <a:latin typeface="Geist"/>
              </a:rPr>
              <a:t>WHAT YOU LEAVE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9601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 i="0">
                <a:solidFill>
                  <a:srgbClr val="1A1714"/>
                </a:solidFill>
                <a:latin typeface="Geist"/>
              </a:rPr>
              <a:t>Three things you can</a:t>
            </a:r>
            <a:r>
              <a:rPr sz="4000" b="1" i="0">
                <a:solidFill>
                  <a:srgbClr val="E8331C"/>
                </a:solidFill>
                <a:latin typeface="Geist"/>
              </a:rPr>
              <a:t> do on Monday.</a:t>
            </a:r>
          </a:p>
        </p:txBody>
      </p:sp>
      <p:pic>
        <p:nvPicPr>
          <p:cNvPr id="5" name="Picture 4" descr="apn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9975" y="5989320"/>
            <a:ext cx="907200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71055" y="6089904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 spc="200">
                <a:solidFill>
                  <a:srgbClr val="5B5650"/>
                </a:solidFill>
                <a:latin typeface="Geist"/>
              </a:rPr>
              <a:t>FALL CONFERENCE 2026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761488"/>
            <a:ext cx="384048" cy="384048"/>
          </a:xfrm>
          <a:prstGeom prst="ellipse">
            <a:avLst/>
          </a:prstGeom>
          <a:solidFill>
            <a:srgbClr val="E83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816352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Geist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74320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A1714"/>
                </a:solidFill>
                <a:latin typeface="Geist"/>
              </a:rPr>
              <a:t>Describe how connected, real-time data on the workforce, funding, policy, and community conditions can inform daily practice, program decisions, and advocacy.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675887"/>
            <a:ext cx="384048" cy="384048"/>
          </a:xfrm>
          <a:prstGeom prst="ellipse">
            <a:avLst/>
          </a:prstGeom>
          <a:solidFill>
            <a:srgbClr val="E83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730752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Geist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65760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A1714"/>
                </a:solidFill>
                <a:latin typeface="Geist"/>
              </a:rPr>
              <a:t>Identify common misconceptions about artificial intelligence in behavioral health and distinguish what AI tools can and cannot do without professional expertise.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590288"/>
            <a:ext cx="384048" cy="384048"/>
          </a:xfrm>
          <a:prstGeom prst="ellipse">
            <a:avLst/>
          </a:prstGeom>
          <a:solidFill>
            <a:srgbClr val="E83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645152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Geist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57200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A1714"/>
                </a:solidFill>
                <a:latin typeface="Geist"/>
              </a:rPr>
              <a:t>Distinguish single-tool AI solutions, such as chatbots, from integrated data platforms, and describe what platform-based approaches mean for North Carolina’s addiction workforce.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" y="228600"/>
            <a:ext cx="11734495" cy="6400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50">
                <a:solidFill>
                  <a:srgbClr val="E8331C"/>
                </a:solidFill>
                <a:latin typeface="Geist"/>
              </a:rPr>
              <a:t>ON THE PROFESSION’S TERMS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9601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 i="0">
                <a:solidFill>
                  <a:srgbClr val="1A1714"/>
                </a:solidFill>
                <a:latin typeface="Geist"/>
              </a:rPr>
              <a:t>Not scared.</a:t>
            </a:r>
            <a:r>
              <a:rPr sz="4000" b="1" i="0">
                <a:solidFill>
                  <a:srgbClr val="E8331C"/>
                </a:solidFill>
                <a:latin typeface="Geist"/>
              </a:rPr>
              <a:t> Prepared.</a:t>
            </a:r>
          </a:p>
        </p:txBody>
      </p:sp>
      <p:pic>
        <p:nvPicPr>
          <p:cNvPr id="5" name="Picture 4" descr="apn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9975" y="5989320"/>
            <a:ext cx="907200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71055" y="6089904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 spc="200">
                <a:solidFill>
                  <a:srgbClr val="5B5650"/>
                </a:solidFill>
                <a:latin typeface="Geist"/>
              </a:rPr>
              <a:t>FALL CONFERENCE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8686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5B5650"/>
                </a:solidFill>
                <a:latin typeface="Geist"/>
              </a:rPr>
              <a:t>A practical frame for engaging AI on the profession’s terms: </a:t>
            </a:r>
            <a:r>
              <a:rPr sz="2200" b="1" i="0">
                <a:solidFill>
                  <a:srgbClr val="1A1714"/>
                </a:solidFill>
                <a:latin typeface="Geist"/>
              </a:rPr>
              <a:t>your data, your questions, your judgment.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548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5650"/>
                </a:solidFill>
                <a:latin typeface="Geist"/>
              </a:rPr>
              <a:t>David Smith · Founder and CEO, Third Horizon · david.smith@thirdhorizon.com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A1714"/>
      </a:dk1>
      <a:lt1>
        <a:srgbClr val="FFFFFF"/>
      </a:lt1>
      <a:dk2>
        <a:srgbClr val="5B5650"/>
      </a:dk2>
      <a:lt2>
        <a:srgbClr val="F7F5F2"/>
      </a:lt2>
      <a:accent1>
        <a:srgbClr val="E8331C"/>
      </a:accent1>
      <a:accent2>
        <a:srgbClr val="C1281A"/>
      </a:accent2>
      <a:accent3>
        <a:srgbClr val="FDECEA"/>
      </a:accent3>
      <a:accent4>
        <a:srgbClr val="E8E3DD"/>
      </a:accent4>
      <a:accent5>
        <a:srgbClr val="059669"/>
      </a:accent5>
      <a:accent6>
        <a:srgbClr val="0369A1"/>
      </a:accent6>
      <a:hlink>
        <a:srgbClr val="C1281A"/>
      </a:hlink>
      <a:folHlink>
        <a:srgbClr val="5B5650"/>
      </a:folHlink>
    </a:clrScheme>
    <a:fontScheme name="Office">
      <a:majorFont>
        <a:latin typeface="Geis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is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