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Arches, wordmark (the only slide that spells Third Horizon), kicker, serif heading, the italic accent line, rule, note, date. One navy surface, one accent (the periwinkle blue). Fonts: Lora and Instrument Sans (Google Fonts); Georgia and Calibri are the fallbacks.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DIVIDER. Eyebrow, serif title with one italic accent phrase, the roman numeral ghosted at the right. Nothing else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SNAPSHOT. Two columns, 1.3fr / 1fr, center-aligned on each other. Dropcap and bold first sentence on the lead. Tiles: sans label, Lora value, sub line. Gold is for wayfinding only; one gold number at most, never data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 RAIL. A figure left (replace the placeholder bars with your chart; keep the accent for the series that matters, navy-900 for the rest), three to five tiles right with one line of context each. Positive #57BE97, negative #DE7E6E, caution #B8822E.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DOORS. Two or three option cards; the emphasized one carries the accent border. Few numbers, plainly stated. Cite CIP locations as section.page in the accent, never in gold.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/ BELIEVE GRID. Three by two, equal heights, each cell one Risk sentence and one Why We Believe sentence. Six is the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Arches, wordmark, the italic line, the contact line. The confidentiality footer stays on every slide,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-arch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1188720"/>
            <a:ext cx="256595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spc="340">
                <a:solidFill>
                  <a:srgbClr val="F3F1EA"/>
                </a:solidFill>
                <a:latin typeface="Instrument Sans"/>
              </a:rPr>
              <a:t>THIRD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220">
                <a:solidFill>
                  <a:srgbClr val="9BC2E6"/>
                </a:solidFill>
                <a:latin typeface="Instrument Sans"/>
              </a:rPr>
              <a:t>CONFIDENTIAL INVESTOR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F3F1EA"/>
                </a:solidFill>
                <a:latin typeface="Lora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3F1EA"/>
                </a:solidFill>
                <a:latin typeface="Lora"/>
              </a:rPr>
              <a:t>Strategy you can </a:t>
            </a:r>
            <a:r>
              <a:rPr sz="2200" b="0" i="1">
                <a:solidFill>
                  <a:srgbClr val="9BC2E6"/>
                </a:solidFill>
                <a:latin typeface="Lora"/>
              </a:rPr>
              <a:t>run</a:t>
            </a:r>
            <a:r>
              <a:rPr sz="2200" b="0" i="0">
                <a:solidFill>
                  <a:srgbClr val="F3F1EA"/>
                </a:solidFill>
                <a:latin typeface="Lora"/>
              </a:rPr>
              <a:t>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4095" y="4800600"/>
            <a:ext cx="603504" cy="10972"/>
          </a:xfrm>
          <a:prstGeom prst="rect">
            <a:avLst/>
          </a:prstGeom>
          <a:solidFill>
            <a:srgbClr val="7E7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B4B3AE"/>
                </a:solidFill>
                <a:latin typeface="Lora"/>
              </a:rPr>
              <a:t>The companion volume to the interactive Confidential Information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160">
                <a:solidFill>
                  <a:srgbClr val="7E7F7D"/>
                </a:solidFill>
                <a:latin typeface="Instrument Sans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-arch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478978" cy="1280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628192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80">
                <a:solidFill>
                  <a:srgbClr val="7E7F7D"/>
                </a:solidFill>
                <a:latin typeface="Instrument Sans"/>
              </a:rPr>
              <a:t>NOT FOR DISTRIBUTION · CONFIDENTIAL &amp; PROPRIETARY INFORMATION · THIRD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79615" y="62819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 spc="60">
                <a:solidFill>
                  <a:srgbClr val="7E7F7D"/>
                </a:solidFill>
                <a:latin typeface="Instrument Sans"/>
              </a:rPr>
              <a:t>Section I 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20">
                <a:solidFill>
                  <a:srgbClr val="9BC2E6"/>
                </a:solidFill>
                <a:latin typeface="Instrument Sans"/>
              </a:rPr>
              <a:t>SECTION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F3F1EA"/>
                </a:solidFill>
                <a:latin typeface="Lora"/>
              </a:rPr>
              <a:t>The firm, </a:t>
            </a:r>
            <a:r>
              <a:rPr sz="4800" b="0" i="1">
                <a:solidFill>
                  <a:srgbClr val="9BC2E6"/>
                </a:solidFill>
                <a:latin typeface="Lora"/>
              </a:rPr>
              <a:t>modeled through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2194560"/>
            <a:ext cx="1371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0" b="0" i="0">
                <a:solidFill>
                  <a:srgbClr val="1C2E40"/>
                </a:solidFill>
                <a:latin typeface="Lora"/>
              </a:rPr>
              <a:t>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3F1EA"/>
                </a:solidFill>
                <a:latin typeface="Lora"/>
              </a:rPr>
              <a:t>The company, </a:t>
            </a:r>
            <a:r>
              <a:rPr sz="3400" b="0" i="1">
                <a:solidFill>
                  <a:srgbClr val="9BC2E6"/>
                </a:solidFill>
                <a:latin typeface="Lora"/>
              </a:rPr>
              <a:t>in one page.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984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20">
                <a:solidFill>
                  <a:srgbClr val="9BC2E6"/>
                </a:solidFill>
                <a:latin typeface="Instrument Sans"/>
              </a:rPr>
              <a:t>SNAPSHOT</a:t>
            </a:r>
          </a:p>
        </p:txBody>
      </p:sp>
      <p:pic>
        <p:nvPicPr>
          <p:cNvPr id="4" name="Picture 3" descr="th-arch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478978" cy="128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628192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80">
                <a:solidFill>
                  <a:srgbClr val="7E7F7D"/>
                </a:solidFill>
                <a:latin typeface="Instrument Sans"/>
              </a:rPr>
              <a:t>NOT FOR DISTRIBUTION · CONFIDENTIAL &amp; PROPRIETARY INFORMATION · THIRD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9615" y="62819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 spc="60">
                <a:solidFill>
                  <a:srgbClr val="7E7F7D"/>
                </a:solidFill>
                <a:latin typeface="Instrument Sans"/>
              </a:rPr>
              <a:t>Section I · Snapshot 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7607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 i="0">
                <a:solidFill>
                  <a:srgbClr val="F3F1EA"/>
                </a:solidFill>
                <a:latin typeface="Lora"/>
              </a:rPr>
              <a:t>The first sentence of the lead paragraph is bold. </a:t>
            </a:r>
            <a:r>
              <a:rPr sz="1700" b="0" i="0">
                <a:solidFill>
                  <a:srgbClr val="B4B3AE"/>
                </a:solidFill>
                <a:latin typeface="Lora"/>
              </a:rPr>
              <a:t>The rest runs in Lora at 17pt with generous leading, ink at 68%. Prose leads; numbers support. Keep the column to about 62 characters.</a:t>
            </a:r>
          </a:p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B4B3AE"/>
                </a:solidFill>
                <a:latin typeface="Lora"/>
              </a:rPr>
              <a:t>A second paragraph if the slide needs one. Never a third.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60">
                <a:solidFill>
                  <a:srgbClr val="7E7F7D"/>
                </a:solidFill>
                <a:latin typeface="Instrument Sans"/>
              </a:rPr>
              <a:t>BY THE NUMBERS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148840"/>
            <a:ext cx="2331720" cy="17830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35000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7E7F7D"/>
                </a:solidFill>
                <a:latin typeface="Instrument Sans"/>
              </a:rPr>
              <a:t>REVENUE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651760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3F1EA"/>
                </a:solidFill>
                <a:latin typeface="Lora"/>
              </a:rPr>
              <a:t>$6.9M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3375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4B3AE"/>
                </a:solidFill>
                <a:latin typeface="Instrument Sans"/>
              </a:rPr>
              <a:t>one line of context under the number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39" y="2148840"/>
            <a:ext cx="2331720" cy="17830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39" y="235000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7E7F7D"/>
                </a:solidFill>
                <a:latin typeface="Instrument Sans"/>
              </a:rPr>
              <a:t>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9" y="2651760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9BC2E6"/>
                </a:solidFill>
                <a:latin typeface="Lora"/>
              </a:rPr>
              <a:t>34%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9" y="33375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4B3AE"/>
                </a:solidFill>
                <a:latin typeface="Instrument Sans"/>
              </a:rPr>
              <a:t>rounded for the label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114800"/>
            <a:ext cx="2331720" cy="17830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431596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7E7F7D"/>
                </a:solidFill>
                <a:latin typeface="Instrument Sans"/>
              </a:rPr>
              <a:t>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617720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3F1EA"/>
                </a:solidFill>
                <a:latin typeface="Lora"/>
              </a:rPr>
              <a:t>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3035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4B3AE"/>
                </a:solidFill>
                <a:latin typeface="Instrument Sans"/>
              </a:rPr>
              <a:t>coded by engagement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39" y="4114800"/>
            <a:ext cx="2331720" cy="17830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39" y="431596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7E7F7D"/>
                </a:solidFill>
                <a:latin typeface="Instrument Sans"/>
              </a:rPr>
              <a:t>HORIZON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9" y="4617720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8C761"/>
                </a:solidFill>
                <a:latin typeface="Lora"/>
              </a:rPr>
              <a:t>2031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9" y="530352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4B3AE"/>
                </a:solidFill>
                <a:latin typeface="Instrument Sans"/>
              </a:rPr>
              <a:t>the wall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3F1EA"/>
                </a:solidFill>
                <a:latin typeface="Lora"/>
              </a:rPr>
              <a:t>What the numbers </a:t>
            </a:r>
            <a:r>
              <a:rPr sz="3400" b="0" i="1">
                <a:solidFill>
                  <a:srgbClr val="9BC2E6"/>
                </a:solidFill>
                <a:latin typeface="Lora"/>
              </a:rPr>
              <a:t>say.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984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20">
                <a:solidFill>
                  <a:srgbClr val="9BC2E6"/>
                </a:solidFill>
                <a:latin typeface="Instrument Sans"/>
              </a:rPr>
              <a:t>STAT RAIL</a:t>
            </a:r>
          </a:p>
        </p:txBody>
      </p:sp>
      <p:pic>
        <p:nvPicPr>
          <p:cNvPr id="4" name="Picture 3" descr="th-arch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478978" cy="128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628192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80">
                <a:solidFill>
                  <a:srgbClr val="7E7F7D"/>
                </a:solidFill>
                <a:latin typeface="Instrument Sans"/>
              </a:rPr>
              <a:t>NOT FOR DISTRIBUTION · CONFIDENTIAL &amp; PROPRIETARY INFORMATION · THIRD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9615" y="62819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 spc="60">
                <a:solidFill>
                  <a:srgbClr val="7E7F7D"/>
                </a:solidFill>
                <a:latin typeface="Instrument Sans"/>
              </a:rPr>
              <a:t>Section II ·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949440" cy="3566160"/>
          </a:xfrm>
          <a:prstGeom prst="roundRect">
            <a:avLst>
              <a:gd name="adj" fmla="val 6000"/>
            </a:avLst>
          </a:prstGeom>
          <a:solidFill>
            <a:srgbClr val="0D1D2C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60">
                <a:solidFill>
                  <a:srgbClr val="7E7F7D"/>
                </a:solidFill>
                <a:latin typeface="Instrument Sans"/>
              </a:rPr>
              <a:t>FIGURE OR CHART GOES 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224528"/>
            <a:ext cx="731520" cy="713232"/>
          </a:xfrm>
          <a:prstGeom prst="rect">
            <a:avLst/>
          </a:prstGeom>
          <a:solidFill>
            <a:srgbClr val="16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4983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E7F7D"/>
                </a:solidFill>
                <a:latin typeface="Instrument Sans"/>
              </a:rPr>
              <a:t>2021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83003"/>
            <a:ext cx="731520" cy="1154756"/>
          </a:xfrm>
          <a:prstGeom prst="rect">
            <a:avLst/>
          </a:prstGeom>
          <a:solidFill>
            <a:srgbClr val="16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79" y="4983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E7F7D"/>
                </a:solidFill>
                <a:latin typeface="Instrument Sans"/>
              </a:rPr>
              <a:t>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511296"/>
            <a:ext cx="731520" cy="1426464"/>
          </a:xfrm>
          <a:prstGeom prst="rect">
            <a:avLst/>
          </a:prstGeom>
          <a:solidFill>
            <a:srgbClr val="16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4983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E7F7D"/>
                </a:solidFill>
                <a:latin typeface="Instrument Sans"/>
              </a:rP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3205625"/>
            <a:ext cx="731520" cy="1732134"/>
          </a:xfrm>
          <a:prstGeom prst="rect">
            <a:avLst/>
          </a:prstGeom>
          <a:solidFill>
            <a:srgbClr val="16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983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E7F7D"/>
                </a:solidFill>
                <a:latin typeface="Instrument Sans"/>
              </a:rPr>
              <a:t>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594283"/>
            <a:ext cx="731520" cy="2343476"/>
          </a:xfrm>
          <a:prstGeom prst="rect">
            <a:avLst/>
          </a:prstGeom>
          <a:solidFill>
            <a:srgbClr val="9BC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4983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E7F7D"/>
                </a:solidFill>
                <a:latin typeface="Instrument Sans"/>
              </a:rPr>
              <a:t>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828800"/>
            <a:ext cx="3657600" cy="1115568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029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7E7F7D"/>
                </a:solidFill>
                <a:latin typeface="Instrument Sans"/>
              </a:rPr>
              <a:t>REVENUE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3317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3F1EA"/>
                </a:solidFill>
                <a:latin typeface="Lora"/>
              </a:rPr>
              <a:t>$6.9M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0175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4B3AE"/>
                </a:solidFill>
                <a:latin typeface="Instrument Sans"/>
              </a:rPr>
              <a:t>NetSuite, closed through September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3044952"/>
            <a:ext cx="3657600" cy="1115568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7E7F7D"/>
                </a:solidFill>
                <a:latin typeface="Instrument Sans"/>
              </a:rPr>
              <a:t>NET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54787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DE7E6E"/>
                </a:solidFill>
                <a:latin typeface="Lora"/>
              </a:rPr>
              <a:t>($1.4M)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23367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4B3AE"/>
                </a:solidFill>
                <a:latin typeface="Instrument Sans"/>
              </a:rPr>
              <a:t>the build year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4261104"/>
            <a:ext cx="3657600" cy="1115568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44622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7E7F7D"/>
                </a:solidFill>
                <a:latin typeface="Instrument Sans"/>
              </a:rPr>
              <a:t>PEAK NEED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764024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3F1EA"/>
                </a:solidFill>
                <a:latin typeface="Lora"/>
              </a:rPr>
              <a:t>$2.5M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44982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4B3AE"/>
                </a:solidFill>
                <a:latin typeface="Instrument Sans"/>
              </a:rPr>
              <a:t>the growth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3F1EA"/>
                </a:solidFill>
                <a:latin typeface="Lora"/>
              </a:rPr>
              <a:t>Three ways </a:t>
            </a:r>
            <a:r>
              <a:rPr sz="3400" b="0" i="1">
                <a:solidFill>
                  <a:srgbClr val="9BC2E6"/>
                </a:solidFill>
                <a:latin typeface="Lora"/>
              </a:rPr>
              <a:t>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984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20">
                <a:solidFill>
                  <a:srgbClr val="9BC2E6"/>
                </a:solidFill>
                <a:latin typeface="Instrument Sans"/>
              </a:rPr>
              <a:t>DOORS</a:t>
            </a:r>
          </a:p>
        </p:txBody>
      </p:sp>
      <p:pic>
        <p:nvPicPr>
          <p:cNvPr id="4" name="Picture 3" descr="th-arch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478978" cy="128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628192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80">
                <a:solidFill>
                  <a:srgbClr val="7E7F7D"/>
                </a:solidFill>
                <a:latin typeface="Instrument Sans"/>
              </a:rPr>
              <a:t>NOT FOR DISTRIBUTION · CONFIDENTIAL &amp; PROPRIETARY INFORMATION · THIRD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9615" y="62819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 spc="60">
                <a:solidFill>
                  <a:srgbClr val="7E7F7D"/>
                </a:solidFill>
                <a:latin typeface="Instrument Sans"/>
              </a:rPr>
              <a:t>Section IV ·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15258" cy="29260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60">
                <a:solidFill>
                  <a:srgbClr val="7E7F7D"/>
                </a:solidFill>
                <a:latin typeface="Instrument Sans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9666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3F1EA"/>
                </a:solidFill>
                <a:latin typeface="Lora"/>
              </a:rPr>
              <a:t>$4.0M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9666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4B3AE"/>
                </a:solidFill>
                <a:latin typeface="Instrument Sans"/>
              </a:rPr>
              <a:t>into the company. Two lines of plain language about what this door is and what it is not.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828800"/>
            <a:ext cx="3515258" cy="29260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60">
                <a:solidFill>
                  <a:srgbClr val="7E7F7D"/>
                </a:solidFill>
                <a:latin typeface="Instrument Sans"/>
              </a:rPr>
              <a:t>SECONDARY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538" y="2468880"/>
            <a:ext cx="29666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3F1EA"/>
                </a:solidFill>
                <a:latin typeface="Lora"/>
              </a:rPr>
              <a:t>up to $8.0M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3383280"/>
            <a:ext cx="29666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4B3AE"/>
                </a:solidFill>
                <a:latin typeface="Instrument Sans"/>
              </a:rPr>
              <a:t>pro rata. Two lines of plain language about what this door is and what it is not.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1828800"/>
            <a:ext cx="3515258" cy="29260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19050">
            <a:solidFill>
              <a:srgbClr val="9B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0676" y="2103120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60">
                <a:solidFill>
                  <a:srgbClr val="9BC2E6"/>
                </a:solidFill>
                <a:latin typeface="Instrument Sans"/>
              </a:rPr>
              <a:t>THE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0676" y="2468880"/>
            <a:ext cx="29666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3F1EA"/>
                </a:solidFill>
                <a:latin typeface="Lora"/>
              </a:rPr>
              <a:t>$29.5M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3383280"/>
            <a:ext cx="29666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4B3AE"/>
                </a:solidFill>
                <a:latin typeface="Instrument Sans"/>
              </a:rPr>
              <a:t>one price for every unit. Two lines of plain language about what this door is and what it is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E7F7D"/>
                </a:solidFill>
                <a:latin typeface="Instrument Sans"/>
              </a:rPr>
              <a:t>Price checks: a compact row of mini tiles sits here when the slide needs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3F1EA"/>
                </a:solidFill>
                <a:latin typeface="Lora"/>
              </a:rPr>
              <a:t>What must </a:t>
            </a:r>
            <a:r>
              <a:rPr sz="3400" b="0" i="1">
                <a:solidFill>
                  <a:srgbClr val="9BC2E6"/>
                </a:solidFill>
                <a:latin typeface="Lora"/>
              </a:rPr>
              <a:t>be true.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984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220">
                <a:solidFill>
                  <a:srgbClr val="9BC2E6"/>
                </a:solidFill>
                <a:latin typeface="Instrument Sans"/>
              </a:rPr>
              <a:t>RISK AND WHY WE BELIEVE</a:t>
            </a:r>
          </a:p>
        </p:txBody>
      </p:sp>
      <p:pic>
        <p:nvPicPr>
          <p:cNvPr id="4" name="Picture 3" descr="th-arch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478978" cy="128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628192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80">
                <a:solidFill>
                  <a:srgbClr val="7E7F7D"/>
                </a:solidFill>
                <a:latin typeface="Instrument Sans"/>
              </a:rPr>
              <a:t>NOT FOR DISTRIBUTION · CONFIDENTIAL &amp; PROPRIETARY INFORMATION · THIRD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9615" y="62819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 spc="60">
                <a:solidFill>
                  <a:srgbClr val="7E7F7D"/>
                </a:solidFill>
                <a:latin typeface="Instrument Sans"/>
              </a:rPr>
              <a:t>Section IV 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9BC2E6"/>
                </a:solidFill>
                <a:latin typeface="Instrument Sans"/>
              </a:rPr>
              <a:t>ASSUMPTION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Risk.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Why we believe.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82880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201168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9BC2E6"/>
                </a:solidFill>
                <a:latin typeface="Instrument Sans"/>
              </a:rPr>
              <a:t>ASSUMPTION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33172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Risk.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78892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Why we believe.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182880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4956" y="201168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9BC2E6"/>
                </a:solidFill>
                <a:latin typeface="Instrument Sans"/>
              </a:rPr>
              <a:t>ASSUMPTION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33172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Risk.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956" y="278892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Why we believe.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49039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9BC2E6"/>
                </a:solidFill>
                <a:latin typeface="Instrument Sans"/>
              </a:rPr>
              <a:t>ASSUMPTION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Risk.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Why we believe.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8218" y="356616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3749039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9BC2E6"/>
                </a:solidFill>
                <a:latin typeface="Instrument Sans"/>
              </a:rPr>
              <a:t>ASSUMPTION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06908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Risk.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6818" y="452628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Why we believe.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6356" y="356616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17293A"/>
          </a:solidFill>
          <a:ln w="9525">
            <a:solidFill>
              <a:srgbClr val="2A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4956" y="3749039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9BC2E6"/>
                </a:solidFill>
                <a:latin typeface="Instrument Sans"/>
              </a:rPr>
              <a:t>ASSUMPTION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406908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Risk.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452628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3F1EA"/>
                </a:solidFill>
                <a:latin typeface="Instrument Sans"/>
              </a:rPr>
              <a:t>Why we believe. </a:t>
            </a:r>
            <a:r>
              <a:rPr sz="1200" b="0" i="0">
                <a:solidFill>
                  <a:srgbClr val="B4B3AE"/>
                </a:solidFill>
                <a:latin typeface="Instrument Sans"/>
              </a:rPr>
              <a:t>One sentence.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-arch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2011680"/>
            <a:ext cx="256595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spc="340">
                <a:solidFill>
                  <a:srgbClr val="F3F1EA"/>
                </a:solidFill>
                <a:latin typeface="Instrument Sans"/>
              </a:rPr>
              <a:t>THIRD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F3F1EA"/>
                </a:solidFill>
                <a:latin typeface="Lora"/>
              </a:rPr>
              <a:t>Strategy you can </a:t>
            </a:r>
            <a:r>
              <a:rPr sz="2600" b="0" i="1">
                <a:solidFill>
                  <a:srgbClr val="9BC2E6"/>
                </a:solidFill>
                <a:latin typeface="Lora"/>
              </a:rPr>
              <a:t>run</a:t>
            </a:r>
            <a:r>
              <a:rPr sz="2600" b="0" i="0">
                <a:solidFill>
                  <a:srgbClr val="F3F1EA"/>
                </a:solidFill>
                <a:latin typeface="Lora"/>
              </a:rPr>
              <a:t>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4B3AE"/>
                </a:solidFill>
                <a:latin typeface="Instrument Sans"/>
              </a:rPr>
              <a:t>For access to the interactive application, reach out to David Smith · david.smith@thirdhorizon.com</a:t>
            </a:r>
          </a:p>
        </p:txBody>
      </p:sp>
      <p:pic>
        <p:nvPicPr>
          <p:cNvPr id="6" name="Picture 5" descr="th-arche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478978" cy="128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628192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 spc="80">
                <a:solidFill>
                  <a:srgbClr val="7E7F7D"/>
                </a:solidFill>
                <a:latin typeface="Instrument Sans"/>
              </a:rPr>
              <a:t>NOT FOR DISTRIBUTION · CONFIDENTIAL &amp; PROPRIETARY INFORMATION · THIRD HORIZON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3F1EA"/>
      </a:dk1>
      <a:lt1>
        <a:srgbClr val="0F2334"/>
      </a:lt1>
      <a:dk2>
        <a:srgbClr val="B4B3AE"/>
      </a:dk2>
      <a:lt2>
        <a:srgbClr val="0D1D2C"/>
      </a:lt2>
      <a:accent1>
        <a:srgbClr val="9BC2E6"/>
      </a:accent1>
      <a:accent2>
        <a:srgbClr val="3F6E99"/>
      </a:accent2>
      <a:accent3>
        <a:srgbClr val="F8C761"/>
      </a:accent3>
      <a:accent4>
        <a:srgbClr val="57BE97"/>
      </a:accent4>
      <a:accent5>
        <a:srgbClr val="DE7E6E"/>
      </a:accent5>
      <a:accent6>
        <a:srgbClr val="B8822E"/>
      </a:accent6>
      <a:hlink>
        <a:srgbClr val="9BC2E6"/>
      </a:hlink>
      <a:folHlink>
        <a:srgbClr val="B4B3AE"/>
      </a:folHlink>
    </a:clrScheme>
    <a:fontScheme name="Office">
      <a:majorFont>
        <a:latin typeface="Lo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